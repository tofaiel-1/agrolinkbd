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E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914400"/>
            <a:ext cx="4114800" cy="365760"/>
          </a:xfrm>
          <a:prstGeom prst="roundRect">
            <a:avLst/>
          </a:prstGeom>
          <a:solidFill>
            <a:srgbClr val="264630"/>
          </a:solidFill>
          <a:ln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57C00"/>
                </a:solidFill>
              </a:defRPr>
            </a:pPr>
            <a:r>
              <a:t>🏆 NATIONAL INNOVATION FOR BANGLADESH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FFFFFF"/>
                </a:solidFill>
              </a:defRPr>
            </a:pPr>
            <a:r>
              <a:t>AgroLinkBD</a:t>
            </a:r>
          </a:p>
          <a:p>
            <a:pPr>
              <a:defRPr sz="2200" b="1">
                <a:solidFill>
                  <a:srgbClr val="81C784"/>
                </a:solidFill>
              </a:defRPr>
            </a:pPr>
            <a:r>
              <a:t>এগ্রোলিংক বিডি: সমন্বিত স্মার্ট কৃষি ও মৎস্য বাণিজ্য সুপার-ইকোসিস্টেম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1089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0F0F0"/>
                </a:solidFill>
              </a:defRPr>
            </a:pPr>
            <a:r>
              <a:t>A Full-Stack Generative AI, Agri-Fintech &amp; Decentralized B2B Wholesale Trading Platform</a:t>
            </a:r>
            <a:br/>
            <a:r>
              <a:t>Empowering 7 Interconnected Stakeholders across Bangladesh.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297680"/>
            <a:ext cx="3291840" cy="1645920"/>
          </a:xfrm>
          <a:prstGeom prst="roundRect">
            <a:avLst/>
          </a:prstGeom>
          <a:solidFill>
            <a:srgbClr val="1C2D21"/>
          </a:solidFill>
          <a:ln w="1524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480560"/>
            <a:ext cx="29260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57C00"/>
                </a:solidFill>
              </a:defRPr>
            </a:pPr>
            <a:r>
              <a:t>+25% to 40%</a:t>
            </a:r>
          </a:p>
          <a:p>
            <a:pPr>
              <a:defRPr sz="1100">
                <a:solidFill>
                  <a:srgbClr val="F0F0F0"/>
                </a:solidFill>
              </a:defRPr>
            </a:pPr>
            <a:r>
              <a:t>Net Farm-Gate Income Increase via Live Auctions &amp; Corporate Buyback Contracts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4297680"/>
            <a:ext cx="3291840" cy="1645920"/>
          </a:xfrm>
          <a:prstGeom prst="roundRect">
            <a:avLst/>
          </a:prstGeom>
          <a:solidFill>
            <a:srgbClr val="1C2D21"/>
          </a:solidFill>
          <a:ln w="1524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4480560"/>
            <a:ext cx="29260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4CAF50"/>
                </a:solidFill>
              </a:defRPr>
            </a:pPr>
            <a:r>
              <a:t>-30% Waste</a:t>
            </a:r>
          </a:p>
          <a:p>
            <a:pPr>
              <a:defRPr sz="1100">
                <a:solidFill>
                  <a:srgbClr val="F0F0F0"/>
                </a:solidFill>
              </a:defRPr>
            </a:pPr>
            <a:r>
              <a:t>Reduction in Aquatic &amp; Crop Disease Loss &amp; Perishable Spoilage via Gemini Vision AI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4297680"/>
            <a:ext cx="3383280" cy="1645920"/>
          </a:xfrm>
          <a:prstGeom prst="roundRect">
            <a:avLst/>
          </a:prstGeom>
          <a:solidFill>
            <a:srgbClr val="1C2D21"/>
          </a:solidFill>
          <a:ln w="1524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4480560"/>
            <a:ext cx="30175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40C4FF"/>
                </a:solidFill>
              </a:defRPr>
            </a:pPr>
            <a:r>
              <a:t>100% Inclusion</a:t>
            </a:r>
          </a:p>
          <a:p>
            <a:pPr>
              <a:defRPr sz="1100">
                <a:solidFill>
                  <a:srgbClr val="F0F0F0"/>
                </a:solidFill>
              </a:defRPr>
            </a:pPr>
            <a:r>
              <a:t>Unbanked Farmers Empowered via NFC Smart AgroCards &amp; Automated Bank Loan KYC Files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757575"/>
                </a:solidFill>
              </a:defRPr>
            </a:pPr>
            <a:r>
              <a:t>University Innovation Team | Track: Smart Agriculture, AI &amp; Fintech | National Finalist (Top 150)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7C00"/>
                </a:solidFill>
              </a:defRPr>
            </a:pPr>
            <a:r>
              <a:t>INNOVATION FOR BANGLADESH 2026 | AGROLINKBD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B5E20"/>
                </a:solidFill>
              </a:defRPr>
            </a:pPr>
            <a:r>
              <a:t>The Burning Crisis in Bangladesh Agriculture &amp; Fisheries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228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8E1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B5E20"/>
                </a:solidFill>
              </a:defRPr>
            </a:pPr>
            <a:r>
              <a:t>1. Multi-Tier Middleman Exploitation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475488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212121"/>
                </a:solidFill>
              </a:defRPr>
            </a:pPr>
            <a:r>
              <a:t>• Farmers lose 45%–60% profit to Faria, Paikar &amp; Aratdars</a:t>
            </a:r>
            <a:br/>
            <a:r>
              <a:t>• Extreme price asymmetry: Farmer gets ৳15/kg, Dhaka consumer pays ৳65/kg</a:t>
            </a:r>
            <a:br/>
            <a:r>
              <a:t>• Absence of transparent open bidding floors forces distress selling.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12080" cy="228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8E1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50876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B5E20"/>
                </a:solidFill>
              </a:defRPr>
            </a:pPr>
            <a:r>
              <a:t>2. Devastating Disease &amp; Chemical Losses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920240"/>
            <a:ext cx="484632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212121"/>
                </a:solidFill>
              </a:defRPr>
            </a:pPr>
            <a:r>
              <a:t>• ৳4,000+ Crore annual loss in fish &amp; crop mortality</a:t>
            </a:r>
            <a:br/>
            <a:r>
              <a:t>• Over-the-counter quack chemical poisoning ruins pond ecosystems</a:t>
            </a:r>
            <a:br/>
            <a:r>
              <a:t>• Absence of instant pathology causes entire harvest wipeouts in 48 hrs.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5120640" cy="2377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8E1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06908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B5E20"/>
                </a:solidFill>
              </a:defRPr>
            </a:pPr>
            <a:r>
              <a:t>3. Severe Post-Harvest Perishable Waste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480560"/>
            <a:ext cx="475488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212121"/>
                </a:solidFill>
              </a:defRPr>
            </a:pPr>
            <a:r>
              <a:t>• 25%–30% of harvested vegetables &amp; fish perish in transit</a:t>
            </a:r>
            <a:br/>
            <a:r>
              <a:t>• Fragmented rural upazila logistics with no cold-chain routing</a:t>
            </a:r>
            <a:br/>
            <a:r>
              <a:t>• Smallholders unable to rent high-tonnage transport independently.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931920"/>
            <a:ext cx="5212080" cy="2377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8E1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406908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B5E20"/>
                </a:solidFill>
              </a:defRPr>
            </a:pPr>
            <a:r>
              <a:t>4. Rural Financial Exclusion &amp; 'Dadon' Trap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480560"/>
            <a:ext cx="484632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212121"/>
                </a:solidFill>
              </a:defRPr>
            </a:pPr>
            <a:r>
              <a:t>• 85%+ marginal farmers lack bank loan access due to zero KYC history</a:t>
            </a:r>
            <a:br/>
            <a:r>
              <a:t>• Trapped in illegal loan-shark debt (দাদন) with 80%+ interest rates</a:t>
            </a:r>
            <a:br/>
            <a:r>
              <a:t>• No digital mechanism to prove farm productivity to commercial banks.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7C00"/>
                </a:solidFill>
              </a:defRPr>
            </a:pPr>
            <a:r>
              <a:t>INNOVATION FOR BANGLADESH 2026 | AGROLINKBD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B5E20"/>
                </a:solidFill>
              </a:defRPr>
            </a:pPr>
            <a:r>
              <a:t>The Solution: AgroLinkBD 7-Role Adaptive Ecosystem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94360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8E1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55778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B5E20"/>
                </a:solidFill>
              </a:defRPr>
            </a:pPr>
            <a:r>
              <a:t>Unified Adaptive Architecture for All 7 Stakeholders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55778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b="1" sz="1100">
                <a:solidFill>
                  <a:srgbClr val="1B5E20"/>
                </a:solidFill>
              </a:rPr>
              <a:t>1. Crop Farmer (ফসল চাষী): </a:t>
            </a:r>
            <a:r>
              <a:rPr sz="1050">
                <a:solidFill>
                  <a:srgbClr val="212121"/>
                </a:solidFill>
              </a:rPr>
              <a:t>Land diary, plant doctor, fertilizer dosage, weather alerts &amp; live bazaar.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B5E20"/>
                </a:solidFill>
              </a:rPr>
              <a:t>2. Fish Farmer (মৎস্যচাষী): </a:t>
            </a:r>
            <a:r>
              <a:rPr sz="1050">
                <a:solidFill>
                  <a:srgbClr val="212121"/>
                </a:solidFill>
              </a:rPr>
              <a:t>Multi-pond telemetry, Gemini AI fish doctor, FCR simulator, auction trade.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B5E20"/>
                </a:solidFill>
              </a:rPr>
              <a:t>3. Wholesale Buyer (আড়তদার): </a:t>
            </a:r>
            <a:r>
              <a:rPr sz="1050">
                <a:solidFill>
                  <a:srgbClr val="212121"/>
                </a:solidFill>
              </a:rPr>
              <a:t>Live auction bidding, corporate contract farming, bulk RFQ procurement.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B5E20"/>
                </a:solidFill>
              </a:rPr>
              <a:t>4. Fleet Driver (পরিবহন চালক): </a:t>
            </a:r>
            <a:r>
              <a:rPr sz="1050">
                <a:solidFill>
                  <a:srgbClr val="212121"/>
                </a:solidFill>
              </a:rPr>
              <a:t>Upazila-to-district truck load board, oxygenated live fish transit &amp; escrow.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B5E20"/>
                </a:solidFill>
              </a:rPr>
              <a:t>5. Machinery &amp; Input Dealer: </a:t>
            </a:r>
            <a:r>
              <a:rPr sz="1050">
                <a:solidFill>
                  <a:srgbClr val="212121"/>
                </a:solidFill>
              </a:rPr>
              <a:t>Combine harvester, tractor &amp; drone rental sharing, QR seed store.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B5E20"/>
                </a:solidFill>
              </a:rPr>
              <a:t>6. Hatchery Operator (হ্যাচারি): </a:t>
            </a:r>
            <a:r>
              <a:rPr sz="1050">
                <a:solidFill>
                  <a:srgbClr val="212121"/>
                </a:solidFill>
              </a:rPr>
              <a:t>Fingerling quality certification, spawn calculator, broodstock tracking.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B5E20"/>
                </a:solidFill>
              </a:rPr>
              <a:t>7. Agro-Doctor (বিশেষজ্ঞ): </a:t>
            </a:r>
            <a:r>
              <a:rPr sz="1050">
                <a:solidFill>
                  <a:srgbClr val="212121"/>
                </a:solidFill>
              </a:rPr>
              <a:t>Live telemedicine video consultations, e-prescriptions, soil/water lab tests.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0" y="1371600"/>
            <a:ext cx="448056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8E1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0" y="150876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B5E20"/>
                </a:solidFill>
              </a:defRPr>
            </a:pPr>
            <a:r>
              <a:t>Core System Pillars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1920240"/>
            <a:ext cx="411480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50">
                <a:solidFill>
                  <a:srgbClr val="00796B"/>
                </a:solidFill>
              </a:rPr>
              <a:t>⚡ Flutter Clean Architecture
</a:t>
            </a:r>
            <a:r>
              <a:rPr sz="1050">
                <a:solidFill>
                  <a:srgbClr val="212121"/>
                </a:solidFill>
              </a:rPr>
              <a:t>High-performance reactive frontend supporting both English &amp; Bengali (Hind Siliguri).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00796B"/>
                </a:solidFill>
              </a:rPr>
              <a:t>🔥 Firebase Real-Time Cloud
</a:t>
            </a:r>
            <a:r>
              <a:rPr sz="1050">
                <a:solidFill>
                  <a:srgbClr val="212121"/>
                </a:solidFill>
              </a:rPr>
              <a:t>Instant real-time auction synchronization and live stock status with 400+ lines of RBAC rules.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00796B"/>
                </a:solidFill>
              </a:rPr>
              <a:t>🧬 Gemini 2.5 Flash Vision AI
</a:t>
            </a:r>
            <a:r>
              <a:rPr sz="1050">
                <a:solidFill>
                  <a:srgbClr val="212121"/>
                </a:solidFill>
              </a:rPr>
              <a:t>Multimodal pathology diagnostics processing image pixels directly for disease diagnosis.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00796B"/>
                </a:solidFill>
              </a:rPr>
              <a:t>💳 NFC &amp; QR Hardware Integration
</a:t>
            </a:r>
            <a:r>
              <a:rPr sz="1050">
                <a:solidFill>
                  <a:srgbClr val="212121"/>
                </a:solidFill>
              </a:rPr>
              <a:t>Physical AgroCard bridging digital literacy barriers for unbanked marginal farmers.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00796B"/>
                </a:solidFill>
              </a:rPr>
              <a:t>🛡️ Escrow-Secured Payments
</a:t>
            </a:r>
            <a:r>
              <a:rPr sz="1050">
                <a:solidFill>
                  <a:srgbClr val="212121"/>
                </a:solidFill>
              </a:rPr>
              <a:t>SSLCommerz multi-channel gateway holding funds safely until buyer goods acceptance.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7C00"/>
                </a:solidFill>
              </a:defRPr>
            </a:pPr>
            <a:r>
              <a:t>INNOVATION FOR BANGLADESH 2026 | AGROLINKBD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B5E20"/>
                </a:solidFill>
              </a:defRPr>
            </a:pPr>
            <a:r>
              <a:t>Innovation #1: Ultra Pro Max AI Fish &amp; Crop Doctor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2377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8E1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B5E20"/>
                </a:solidFill>
              </a:defRPr>
            </a:pPr>
            <a:r>
              <a:t>🚫 Anti-Deception Guardrail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475488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212121"/>
                </a:solidFill>
              </a:defRPr>
            </a:pPr>
            <a:r>
              <a:t>• Rejects human selfies, cars, animals, and blur photos.</a:t>
            </a:r>
            <a:br/>
            <a:r>
              <a:t>• Politely guides farmers with Bengali photography tips to capture clear disease lesions.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12080" cy="2377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8E1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50876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B5E20"/>
                </a:solidFill>
              </a:defRPr>
            </a:pPr>
            <a:r>
              <a:t>✅ 100% Healthy Specimen Vitality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920240"/>
            <a:ext cx="484632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212121"/>
                </a:solidFill>
              </a:defRPr>
            </a:pPr>
            <a:r>
              <a:t>• Recognizes disease-free specimens (clear eyes, intact fins, vibrant scales).</a:t>
            </a:r>
            <a:br/>
            <a:r>
              <a:t>• Issues health certificates &amp; preventive feeding advice instead of prescribing unnecessary antibiotics.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5120640" cy="2377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8E1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06908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B5E20"/>
                </a:solidFill>
              </a:defRPr>
            </a:pPr>
            <a:r>
              <a:t>📐 Decimal Chemical Dosage 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480560"/>
            <a:ext cx="475488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212121"/>
                </a:solidFill>
              </a:defRPr>
            </a:pPr>
            <a:r>
              <a:t>• Dynamically calculates exact dosages for Lime (চুন), Salt (লবণ), Zeolite (জিওলাইট), Potash, and Oxytetracycline.</a:t>
            </a:r>
            <a:br/>
            <a:r>
              <a:t>• Tailored to exact pond decimal area &amp; water depth with zero overdosing risks.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931920"/>
            <a:ext cx="5212080" cy="2377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8E1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406908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B5E20"/>
                </a:solidFill>
              </a:defRPr>
            </a:pPr>
            <a:r>
              <a:t>🌱 Organic &amp; Herbal Remedies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480560"/>
            <a:ext cx="484632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212121"/>
                </a:solidFill>
              </a:defRPr>
            </a:pPr>
            <a:r>
              <a:t>• Provides natural herbal treatments (Neem leaf, Turmeric, Mahogany oil extracts) alongside modern clinical prescriptions.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7C00"/>
                </a:solidFill>
              </a:defRPr>
            </a:pPr>
            <a:r>
              <a:t>INNOVATION FOR BANGLADESH 2026 | AGROLINKBD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B5E20"/>
                </a:solidFill>
              </a:defRPr>
            </a:pPr>
            <a:r>
              <a:t>Innovation #2: Live Wholesale Floor, Auctions &amp; Contract Farming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2377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8E1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B5E20"/>
                </a:solidFill>
              </a:defRPr>
            </a:pPr>
            <a:r>
              <a:t>⚡ Live Digital Open Auctions (লাইভ নিলাম)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475488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212121"/>
                </a:solidFill>
              </a:defRPr>
            </a:pPr>
            <a:r>
              <a:t>• Farmers broadcast bulk crop/fish harvests to verified national aratdars.</a:t>
            </a:r>
            <a:br/>
            <a:r>
              <a:t>• Transparent live bidding timer maximizes final sale price.</a:t>
            </a:r>
            <a:br/>
            <a:r>
              <a:t>• Direct buyer escrow deposit prevents payment defaults.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12080" cy="2377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8E1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50876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B5E20"/>
                </a:solidFill>
              </a:defRPr>
            </a:pPr>
            <a:r>
              <a:t>📜 Corporate Forward Contracts (চুক্তি চাষ)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920240"/>
            <a:ext cx="484632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212121"/>
                </a:solidFill>
              </a:defRPr>
            </a:pPr>
            <a:r>
              <a:t>• Formal pre-harvest buyback agreements with food MNCs (PRAN, ACI, Square).</a:t>
            </a:r>
            <a:br/>
            <a:r>
              <a:t>• Locked-in guaranteed pricing protects farmers from sudden seasonal price crashes.</a:t>
            </a:r>
            <a:br/>
            <a:r>
              <a:t>• Digital milestone tracking with advance token mobilization.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5120640" cy="2377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8E1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06908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B5E20"/>
                </a:solidFill>
              </a:defRPr>
            </a:pPr>
            <a:r>
              <a:t>🛍️ 2-Tab Dual Trading Floor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480560"/>
            <a:ext cx="475488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212121"/>
                </a:solidFill>
              </a:defRPr>
            </a:pPr>
            <a:r>
              <a:t>• Tab 1: Live Wholesale Market Floor with dynamic search, commodity price ticker &amp; 1-tap cart.</a:t>
            </a:r>
            <a:br/>
            <a:r>
              <a:t>• Tab 2: My Shop &amp; Inventory Hub with live stock valuation &amp; instant inline price/quantity editing.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931920"/>
            <a:ext cx="5212080" cy="2377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8E1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406908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B5E20"/>
                </a:solidFill>
              </a:defRPr>
            </a:pPr>
            <a:r>
              <a:t>📋 Bulk Buyer RFQ Tendering Board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480560"/>
            <a:ext cx="484632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212121"/>
                </a:solidFill>
              </a:defRPr>
            </a:pPr>
            <a:r>
              <a:t>• Super-shops (Shwapno, Meena Bazar) and exporters post large procurement demands.</a:t>
            </a:r>
            <a:br/>
            <a:r>
              <a:t>• Farmers &amp; cooperatives submit direct wholesale proposals without middlemen.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7C00"/>
                </a:solidFill>
              </a:defRPr>
            </a:pPr>
            <a:r>
              <a:t>INNOVATION FOR BANGLADESH 2026 | AGROLINKBD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B5E20"/>
                </a:solidFill>
              </a:defRPr>
            </a:pPr>
            <a:r>
              <a:t>Innovation #3: 14-Day AI Price Forecast Radar &amp; Weather Telemetry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2377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8E1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B5E20"/>
                </a:solidFill>
              </a:defRPr>
            </a:pPr>
            <a:r>
              <a:t>📈 14-Day Machine Learning Price Radar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475488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212121"/>
                </a:solidFill>
              </a:defRPr>
            </a:pPr>
            <a:r>
              <a:t>• Predictive time-series model forecasting commodity price trajectories.</a:t>
            </a:r>
            <a:br/>
            <a:r>
              <a:t>• Covers 64 district wholesale markets (Potato, Rice, Onion, Chili, Mango, Fish).</a:t>
            </a:r>
            <a:br/>
            <a:r>
              <a:t>• Empowers farmers to time their harvest for peak market pricing windows.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12080" cy="2377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8E1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50876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B5E20"/>
                </a:solidFill>
              </a:defRPr>
            </a:pPr>
            <a:r>
              <a:t>📊 Real-Time Commodity Price Ticker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920240"/>
            <a:ext cx="484632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212121"/>
                </a:solidFill>
              </a:defRPr>
            </a:pPr>
            <a:r>
              <a:t>• Scrolling live market rates with daily price trend indicators (+/- %).</a:t>
            </a:r>
            <a:br/>
            <a:r>
              <a:t>• Sourced from national trading hubs (Karwan Bazar, Bogura, Rajshahi, Chandpur).</a:t>
            </a:r>
            <a:br/>
            <a:r>
              <a:t>• Eradicates informational asymmetry exploited by local middlemen.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5120640" cy="2377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8E1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06908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B5E20"/>
                </a:solidFill>
              </a:defRPr>
            </a:pPr>
            <a:r>
              <a:t>⛈️ Hyper-Local Disaster &amp; Weather Alerts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480560"/>
            <a:ext cx="475488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212121"/>
                </a:solidFill>
              </a:defRPr>
            </a:pPr>
            <a:r>
              <a:t>• Upazila-level real-time meteorological tracking.</a:t>
            </a:r>
            <a:br/>
            <a:r>
              <a:t>• Instant push warnings for Kalbaishakhi storms, flash floods, cold waves &amp; droughts.</a:t>
            </a:r>
            <a:br/>
            <a:r>
              <a:t>• Actionable crop/pond protection protocols delivered in Bengali.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931920"/>
            <a:ext cx="5212080" cy="2377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8E1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406908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B5E20"/>
                </a:solidFill>
              </a:defRPr>
            </a:pPr>
            <a:r>
              <a:t>🧪 Soil &amp; Water Quality Telemetry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480560"/>
            <a:ext cx="484632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212121"/>
                </a:solidFill>
              </a:defRPr>
            </a:pPr>
            <a:r>
              <a:t>• Soil NPK &amp; pH lab test submission with crop suitability recommendations.</a:t>
            </a:r>
            <a:br/>
            <a:r>
              <a:t>• Aquaculture water quality tracking (pH, DO, Ammonia, Nitrite, Alkalinity).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7C00"/>
                </a:solidFill>
              </a:defRPr>
            </a:pPr>
            <a:r>
              <a:t>INNOVATION FOR BANGLADESH 2026 | AGROLINKBD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B5E20"/>
                </a:solidFill>
              </a:defRPr>
            </a:pPr>
            <a:r>
              <a:t>Innovation #4: Upazila Logistics &amp; Farm Mechanization Fleet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2377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8E1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B5E20"/>
                </a:solidFill>
              </a:defRPr>
            </a:pPr>
            <a:r>
              <a:t>🚚 On-Demand Upazila Truck Booking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475488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212121"/>
                </a:solidFill>
              </a:defRPr>
            </a:pPr>
            <a:r>
              <a:t>• Direct hire of 10-Ton, 5-Ton, 3-Ton trucks &amp; pickup vans at upazila hubs.</a:t>
            </a:r>
            <a:br/>
            <a:r>
              <a:t>• Live GPS route tracking &amp; digital challan generation.</a:t>
            </a:r>
            <a:br/>
            <a:r>
              <a:t>• Cuts perishable transit delays, reducing post-harvest waste by 30%.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12080" cy="2377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8E1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50876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B5E20"/>
                </a:solidFill>
              </a:defRPr>
            </a:pPr>
            <a:r>
              <a:t>🐟 Oxygenated Live Fish Transit Tanks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920240"/>
            <a:ext cx="484632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212121"/>
                </a:solidFill>
              </a:defRPr>
            </a:pPr>
            <a:r>
              <a:t>• Specialized booking for trucks equipped with live aerated water tanks.</a:t>
            </a:r>
            <a:br/>
            <a:r>
              <a:t>• Eliminates transit fish mortality, enabling live fish sales at premium market rates in major metropolitan cities.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5120640" cy="2377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8E1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06908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B5E20"/>
                </a:solidFill>
              </a:defRPr>
            </a:pPr>
            <a:r>
              <a:t>🚜 Farm Machinery &amp; Drone Rental Sharing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480560"/>
            <a:ext cx="475488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212121"/>
                </a:solidFill>
              </a:defRPr>
            </a:pPr>
            <a:r>
              <a:t>• Hourly/Bigha rental of Combine Harvesters, Tractors, Power Tillers &amp; Seeders.</a:t>
            </a:r>
            <a:br/>
            <a:r>
              <a:t>• Agricultural Spraying Drones for rapid, uniform pesticide application.</a:t>
            </a:r>
            <a:br/>
            <a:r>
              <a:t>• Reduces manual labor costs &amp; harvest time by 35%.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931920"/>
            <a:ext cx="5212080" cy="2377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8E1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406908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B5E20"/>
                </a:solidFill>
              </a:defRPr>
            </a:pPr>
            <a:r>
              <a:t>🛡️ Escrow Deposit &amp; Trip Insurance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480560"/>
            <a:ext cx="484632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212121"/>
                </a:solidFill>
              </a:defRPr>
            </a:pPr>
            <a:r>
              <a:t>• Platform escrow protects both drivers and farmers against cargo damage or payment cancellation.</a:t>
            </a:r>
            <a:br/>
            <a:r>
              <a:t>• Integrated driver trip ledger &amp; performance rating.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7C00"/>
                </a:solidFill>
              </a:defRPr>
            </a:pPr>
            <a:r>
              <a:t>INNOVATION FOR BANGLADESH 2026 | AGROLINKBD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B5E20"/>
                </a:solidFill>
              </a:defRPr>
            </a:pPr>
            <a:r>
              <a:t>Innovation #5: Hardware Smart AgroCard &amp; Loan KYC Dossier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2377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8E1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B5E20"/>
                </a:solidFill>
              </a:defRPr>
            </a:pPr>
            <a:r>
              <a:t>💳 NFC &amp; QR Hardware Smart AgroCard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475488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212121"/>
                </a:solidFill>
              </a:defRPr>
            </a:pPr>
            <a:r>
              <a:t>• Physical/digital identity card carrying a 6-digit PIN-secured digital wallet.</a:t>
            </a:r>
            <a:br/>
            <a:r>
              <a:t>• Solves digital literacy barriers: 1-tap offline identification at local dealers.</a:t>
            </a:r>
            <a:br/>
            <a:r>
              <a:t>• Multi-tier encryption protects farmer funds against unauthorized access.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12080" cy="2377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8E1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50876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B5E20"/>
                </a:solidFill>
              </a:defRPr>
            </a:pPr>
            <a:r>
              <a:t>🏦 Automated Bank Loan KYC File Generator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920240"/>
            <a:ext cx="484632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212121"/>
                </a:solidFill>
              </a:defRPr>
            </a:pPr>
            <a:r>
              <a:t>• Converts farm harvest logs, land size, and transaction turnover into an official Bank Loan Project Report.</a:t>
            </a:r>
            <a:br/>
            <a:r>
              <a:t>• Accepted by Krishi Bank, Rajshahi Krishi Unnayan Bank, Sonali Bank, and BRAC Bank.</a:t>
            </a:r>
            <a:br/>
            <a:r>
              <a:t>• Eliminates collateral harassment and reliance on local loan sharks (দাদন).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5120640" cy="2377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8E1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06908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B5E20"/>
                </a:solidFill>
              </a:defRPr>
            </a:pPr>
            <a:r>
              <a:t>📱 Integrated SSLCommerz Digital Payments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480560"/>
            <a:ext cx="475488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212121"/>
                </a:solidFill>
              </a:defRPr>
            </a:pPr>
            <a:r>
              <a:t>• Multi-channel checkout supporting bKash, Nagad, Rocket, Upay, Cards, and Bank Wire.</a:t>
            </a:r>
            <a:br/>
            <a:r>
              <a:t>• Seamless wallet-to-wallet transfers with zero transaction friction.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931920"/>
            <a:ext cx="5212080" cy="2377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8E1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406908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B5E20"/>
                </a:solidFill>
              </a:defRPr>
            </a:pPr>
            <a:r>
              <a:t>🩺 Telemedicine &amp; Government Subsidy Radar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480560"/>
            <a:ext cx="484632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212121"/>
                </a:solidFill>
              </a:defRPr>
            </a:pPr>
            <a:r>
              <a:t>• Live video consultations with verified aquaculture and agronomy scientists.</a:t>
            </a:r>
            <a:br/>
            <a:r>
              <a:t>• Real-time notifications of Ministry of Agriculture seed grants &amp; solar subsidies.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7C00"/>
                </a:solidFill>
              </a:defRPr>
            </a:pPr>
            <a:r>
              <a:t>INNOVATION FOR BANGLADESH 2026 | AGROLINKBD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B5E20"/>
                </a:solidFill>
              </a:defRPr>
            </a:pPr>
            <a:r>
              <a:t>Business Model: 6 Sustainable Commercial Revenue Streams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1069848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743200"/>
                <a:gridCol w="2926080"/>
                <a:gridCol w="2103120"/>
              </a:tblGrid>
              <a:tr h="444137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Revenue Stream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Target Segment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Monetization Mechanism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Yr 2 Est. Revenue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1. B2B Wholesale Trade Commission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Wholesalers / Aratdars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1.5% – 2.5% transaction commission on auction/contract sales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B5E20"/>
                          </a:solidFill>
                        </a:defRPr>
                      </a:pPr>
                      <a:r>
                        <a:t>৳ 3.20 Crore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2. Telemedicine Specialist Consultation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Farmers seeking experts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৳ 30 – ৳ 50 per live specialist video call token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B5E20"/>
                          </a:solidFill>
                        </a:defRPr>
                      </a:pPr>
                      <a:r>
                        <a:t>৳ 45.00 Lakh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3. Logistics &amp; Machinery Rental Escrow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Fleet drivers &amp; equipment owners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3.0% – 5.0% platform safety and escrow fee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B5E20"/>
                          </a:solidFill>
                        </a:defRPr>
                      </a:pPr>
                      <a:r>
                        <a:t>৳ 85.00 Lakh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4. B2B Corporate Sponsored Brand Deals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Seed/Feed/Agro MNCs (ACI, Lal Teer)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Sponsored brand placement &amp; distributor zones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B5E20"/>
                          </a:solidFill>
                        </a:defRPr>
                      </a:pPr>
                      <a:r>
                        <a:t>৳ 60.00 Lakh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5. VIP Pass &amp; Intelligence Subscription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Commercial fish &amp; crop producers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৳ 199/month for 14-day price radar &amp; bank report export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B5E20"/>
                          </a:solidFill>
                        </a:defRPr>
                      </a:pPr>
                      <a:r>
                        <a:t>৳ 72.00 Lakh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413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6. Microfinance Loan Origination Fee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Partner Commercial Banks / MFIs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0.5% – 1.0% origination fee on disbursed credit dossiers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B5E20"/>
                          </a:solidFill>
                        </a:defRPr>
                      </a:pPr>
                      <a:r>
                        <a:t>৳ 90.00 Lakh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31520" y="4663440"/>
            <a:ext cx="10698480" cy="1645920"/>
          </a:xfrm>
          <a:prstGeom prst="roundRect">
            <a:avLst/>
          </a:prstGeom>
          <a:solidFill>
            <a:srgbClr val="1C2D21"/>
          </a:solidFill>
          <a:ln w="1524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8006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57C00"/>
                </a:solidFill>
              </a:defRPr>
            </a:pPr>
            <a:r>
              <a:t>★ Total Projected Year 2 Revenue: ৳ 6.72 Crore | Net Profit Margin: 34.2%</a:t>
            </a:r>
          </a:p>
          <a:p>
            <a:pPr>
              <a:defRPr sz="1100">
                <a:solidFill>
                  <a:srgbClr val="F0F0F0"/>
                </a:solidFill>
              </a:defRPr>
            </a:pPr>
            <a:r>
              <a:t>Sustainable Unit Economics: Zero marginal server cost with Google Cloud serverless architecture. High transactional volume from B2B wholesale trade provides immense organic cash flow without relying on donations or charity.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7C00"/>
                </a:solidFill>
              </a:defRPr>
            </a:pPr>
            <a:r>
              <a:t>INNOVATION FOR BANGLADESH 2026 | AGROLINKBD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B5E20"/>
                </a:solidFill>
              </a:defRPr>
            </a:pPr>
            <a:r>
              <a:t>Technical System Architecture &amp; Enterprise Security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2377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8E1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B5E20"/>
                </a:solidFill>
              </a:defRPr>
            </a:pPr>
            <a:r>
              <a:t>📱 Client Application Layer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475488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212121"/>
                </a:solidFill>
              </a:defRPr>
            </a:pPr>
            <a:r>
              <a:t>• Flutter Framework (Cross-Platform Android, iOS, Web)</a:t>
            </a:r>
            <a:br/>
            <a:r>
              <a:t>• Reactive GetX Controllers + Multi-Provider State Management</a:t>
            </a:r>
            <a:br/>
            <a:r>
              <a:t>• Optimized offline caching for rural low-bandwidth conditions</a:t>
            </a:r>
            <a:br/>
            <a:r>
              <a:t>• Dual Dark/Light Mode + Bengali Hind Siliguri Typography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12080" cy="2377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8E1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50876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B5E20"/>
                </a:solidFill>
              </a:defRPr>
            </a:pPr>
            <a:r>
              <a:t>🔥 Cloud Database &amp; Backend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920240"/>
            <a:ext cx="484632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212121"/>
                </a:solidFill>
              </a:defRPr>
            </a:pPr>
            <a:r>
              <a:t>• Google Firebase Firestore real-time document streaming</a:t>
            </a:r>
            <a:br/>
            <a:r>
              <a:t>• Serverless Cloud Functions handling transaction escrows</a:t>
            </a:r>
            <a:br/>
            <a:r>
              <a:t>• Firebase Storage with encrypted image chunk uploads</a:t>
            </a:r>
            <a:br/>
            <a:r>
              <a:t>• Auto-scaling capacity for 1,000,000+ simultaneous bids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5120640" cy="2377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8E1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06908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B5E20"/>
                </a:solidFill>
              </a:defRPr>
            </a:pPr>
            <a:r>
              <a:t>🧬 Artificial Intelligence 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480560"/>
            <a:ext cx="475488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212121"/>
                </a:solidFill>
              </a:defRPr>
            </a:pPr>
            <a:r>
              <a:t>• Google Gemini 2.5 Flash Multimodal Vision API</a:t>
            </a:r>
            <a:br/>
            <a:r>
              <a:t>• Real-time visual pathology analysis for crops &amp; fish</a:t>
            </a:r>
            <a:br/>
            <a:r>
              <a:t>• Multi-model heuristic fallback guaranteeing 99.9% uptime</a:t>
            </a:r>
            <a:br/>
            <a:r>
              <a:t>• Time-series machine learning model for 14-day price forecasting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931920"/>
            <a:ext cx="5212080" cy="2377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8E1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406908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B5E20"/>
                </a:solidFill>
              </a:defRPr>
            </a:pPr>
            <a:r>
              <a:t>🛡️ Enterprise Security &amp; Fintech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480560"/>
            <a:ext cx="484632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212121"/>
                </a:solidFill>
              </a:defRPr>
            </a:pPr>
            <a:r>
              <a:t>• 400+ lines of Granular Firestore Security Rules with RBAC</a:t>
            </a:r>
            <a:br/>
            <a:r>
              <a:t>• Digital Wallet PINs hashed with irreversible salt + AES-256</a:t>
            </a:r>
            <a:br/>
            <a:r>
              <a:t>• SSLCommerz PCI-DSS Level 1 certified gateway compliance</a:t>
            </a:r>
            <a:br/>
            <a:r>
              <a:t>• Hardware NFC Card UID token authentication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7C00"/>
                </a:solidFill>
              </a:defRPr>
            </a:pPr>
            <a:r>
              <a:t>INNOVATION FOR BANGLADESH 2026 | AGROLINKBD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B5E20"/>
                </a:solidFill>
              </a:defRPr>
            </a:pPr>
            <a:r>
              <a:t>Competitive Advantage: Why AgroLinkBD Wins Nationwide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1069848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280"/>
                <a:gridCol w="2011680"/>
                <a:gridCol w="1645920"/>
                <a:gridCol w="1645920"/>
                <a:gridCol w="2011680"/>
              </a:tblGrid>
              <a:tr h="705394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Key Feature / Capability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AgroLinkBD</a:t>
                      </a:r>
                    </a:p>
                  </a:txBody>
                  <a:tcPr>
                    <a:solidFill>
                      <a:srgbClr val="F57C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Krishi Batayon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iFarmer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Chaldal / Shodagor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12121"/>
                          </a:solidFill>
                        </a:defRPr>
                      </a:pPr>
                      <a:r>
                        <a:t>1. Gemini Vision AI Doctor (Fish &amp; Crop)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B5E20"/>
                          </a:solidFill>
                        </a:defRPr>
                      </a:pPr>
                      <a:r>
                        <a:t>✅ Multimodal + Dosage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12121"/>
                          </a:solidFill>
                        </a:defRPr>
                      </a:pPr>
                      <a:r>
                        <a:t>❌ Static Text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12121"/>
                          </a:solidFill>
                        </a:defRPr>
                      </a:pPr>
                      <a:r>
                        <a:t>❌ None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12121"/>
                          </a:solidFill>
                        </a:defRPr>
                      </a:pPr>
                      <a:r>
                        <a:t>❌ None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12121"/>
                          </a:solidFill>
                        </a:defRPr>
                      </a:pPr>
                      <a:r>
                        <a:t>2. Live Digital Auctions &amp; Contract Farming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B5E20"/>
                          </a:solidFill>
                        </a:defRPr>
                      </a:pPr>
                      <a:r>
                        <a:t>✅ Real-Time Open Floor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12121"/>
                          </a:solidFill>
                        </a:defRPr>
                      </a:pPr>
                      <a:r>
                        <a:t>❌ None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12121"/>
                          </a:solidFill>
                        </a:defRPr>
                      </a:pPr>
                      <a:r>
                        <a:t>❌ None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12121"/>
                          </a:solidFill>
                        </a:defRPr>
                      </a:pPr>
                      <a:r>
                        <a:t>❌ Fixed Retail Only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12121"/>
                          </a:solidFill>
                        </a:defRPr>
                      </a:pPr>
                      <a:r>
                        <a:t>3. 14-Day AI Price Forecast Radar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B5E20"/>
                          </a:solidFill>
                        </a:defRPr>
                      </a:pPr>
                      <a:r>
                        <a:t>✅ 64-District ML Model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12121"/>
                          </a:solidFill>
                        </a:defRPr>
                      </a:pPr>
                      <a:r>
                        <a:t>❌ None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12121"/>
                          </a:solidFill>
                        </a:defRPr>
                      </a:pPr>
                      <a:r>
                        <a:t>❌ None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12121"/>
                          </a:solidFill>
                        </a:defRPr>
                      </a:pPr>
                      <a:r>
                        <a:t>❌ None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12121"/>
                          </a:solidFill>
                        </a:defRPr>
                      </a:pPr>
                      <a:r>
                        <a:t>4. Smart NFC AgroCard &amp; Bank KYC Dossier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B5E20"/>
                          </a:solidFill>
                        </a:defRPr>
                      </a:pPr>
                      <a:r>
                        <a:t>✅ Hardware+App Dossier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12121"/>
                          </a:solidFill>
                        </a:defRPr>
                      </a:pPr>
                      <a:r>
                        <a:t>❌ None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12121"/>
                          </a:solidFill>
                        </a:defRPr>
                      </a:pPr>
                      <a:r>
                        <a:t>❌ Semi-Digital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12121"/>
                          </a:solidFill>
                        </a:defRPr>
                      </a:pPr>
                      <a:r>
                        <a:t>❌ None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12121"/>
                          </a:solidFill>
                        </a:defRPr>
                      </a:pPr>
                      <a:r>
                        <a:t>5. Upazila Logistics &amp; Machinery Sharing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B5E20"/>
                          </a:solidFill>
                        </a:defRPr>
                      </a:pPr>
                      <a:r>
                        <a:t>✅ On-Demand GPS Fleet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12121"/>
                          </a:solidFill>
                        </a:defRPr>
                      </a:pPr>
                      <a:r>
                        <a:t>❌ None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12121"/>
                          </a:solidFill>
                        </a:defRPr>
                      </a:pPr>
                      <a:r>
                        <a:t>❌ None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12121"/>
                          </a:solidFill>
                        </a:defRPr>
                      </a:pPr>
                      <a:r>
                        <a:t>❌ City Logistics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5396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12121"/>
                          </a:solidFill>
                        </a:defRPr>
                      </a:pPr>
                      <a:r>
                        <a:t>6. 7-Role Adaptive Integrated Super-App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B5E20"/>
                          </a:solidFill>
                        </a:defRPr>
                      </a:pPr>
                      <a:r>
                        <a:t>✅ Full Ecosystem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12121"/>
                          </a:solidFill>
                        </a:defRPr>
                      </a:pPr>
                      <a:r>
                        <a:t>❌ 1 Role Only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12121"/>
                          </a:solidFill>
                        </a:defRPr>
                      </a:pPr>
                      <a:r>
                        <a:t>❌ 1 Role Only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12121"/>
                          </a:solidFill>
                        </a:defRPr>
                      </a:pPr>
                      <a:r>
                        <a:t>❌ E-commerce Only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E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Transforming Bangladesh Agriculture: The Vision for 2041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011680"/>
            <a:ext cx="2560320" cy="2926080"/>
          </a:xfrm>
          <a:prstGeom prst="roundRect">
            <a:avLst/>
          </a:prstGeom>
          <a:solidFill>
            <a:srgbClr val="1C2D21"/>
          </a:solidFill>
          <a:ln w="1524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19456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57C00"/>
                </a:solidFill>
              </a:defRPr>
            </a:pPr>
            <a:r>
              <a:t>+25% to 40%</a:t>
            </a:r>
          </a:p>
          <a:p>
            <a:pPr algn="ctr">
              <a:spcAft>
                <a:spcPts val="800"/>
              </a:spcAft>
              <a:defRPr sz="1300" b="1">
                <a:solidFill>
                  <a:srgbClr val="FFFFFF"/>
                </a:solidFill>
              </a:defRPr>
            </a:pPr>
            <a:r>
              <a:t>Farmer Profit Increase</a:t>
            </a:r>
          </a:p>
          <a:p>
            <a:pPr algn="ctr">
              <a:defRPr sz="1050">
                <a:solidFill>
                  <a:srgbClr val="F0F0F0"/>
                </a:solidFill>
              </a:defRPr>
            </a:pPr>
            <a:r>
              <a:t>Eliminating multi-tier middlemen through transparent live auctions and corporate contracts.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2011680"/>
            <a:ext cx="2560320" cy="2926080"/>
          </a:xfrm>
          <a:prstGeom prst="roundRect">
            <a:avLst/>
          </a:prstGeom>
          <a:solidFill>
            <a:srgbClr val="1C2D21"/>
          </a:solidFill>
          <a:ln w="1524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566160" y="219456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57C00"/>
                </a:solidFill>
              </a:defRPr>
            </a:pPr>
            <a:r>
              <a:t>-30%</a:t>
            </a:r>
          </a:p>
          <a:p>
            <a:pPr algn="ctr">
              <a:spcAft>
                <a:spcPts val="800"/>
              </a:spcAft>
              <a:defRPr sz="1300" b="1">
                <a:solidFill>
                  <a:srgbClr val="FFFFFF"/>
                </a:solidFill>
              </a:defRPr>
            </a:pPr>
            <a:r>
              <a:t>Loss &amp; Spoilage Reduction</a:t>
            </a:r>
          </a:p>
          <a:p>
            <a:pPr algn="ctr">
              <a:defRPr sz="1050">
                <a:solidFill>
                  <a:srgbClr val="F0F0F0"/>
                </a:solidFill>
              </a:defRPr>
            </a:pPr>
            <a:r>
              <a:t>Rapid Gemini Vision pathology diagnosis and cold-chain upazila transport.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2011680"/>
            <a:ext cx="2560320" cy="2926080"/>
          </a:xfrm>
          <a:prstGeom prst="roundRect">
            <a:avLst/>
          </a:prstGeom>
          <a:solidFill>
            <a:srgbClr val="1C2D21"/>
          </a:solidFill>
          <a:ln w="1524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63640" y="219456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57C00"/>
                </a:solidFill>
              </a:defRPr>
            </a:pPr>
            <a:r>
              <a:t>100,000+</a:t>
            </a:r>
          </a:p>
          <a:p>
            <a:pPr algn="ctr">
              <a:spcAft>
                <a:spcPts val="800"/>
              </a:spcAft>
              <a:defRPr sz="1300" b="1">
                <a:solidFill>
                  <a:srgbClr val="FFFFFF"/>
                </a:solidFill>
              </a:defRPr>
            </a:pPr>
            <a:r>
              <a:t>Farmers Bank Inclusion</a:t>
            </a:r>
          </a:p>
          <a:p>
            <a:pPr algn="ctr">
              <a:defRPr sz="1050">
                <a:solidFill>
                  <a:srgbClr val="F0F0F0"/>
                </a:solidFill>
              </a:defRPr>
            </a:pPr>
            <a:r>
              <a:t>NFC Smart AgroCards providing automated KYC credit dossiers for collateral-free bank loans.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2011680"/>
            <a:ext cx="2560320" cy="2926080"/>
          </a:xfrm>
          <a:prstGeom prst="roundRect">
            <a:avLst/>
          </a:prstGeom>
          <a:solidFill>
            <a:srgbClr val="1C2D21"/>
          </a:solidFill>
          <a:ln w="1524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0" y="219456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57C00"/>
                </a:solidFill>
              </a:defRPr>
            </a:pPr>
            <a:r>
              <a:t>SDG 1, 2, 8, 9</a:t>
            </a:r>
          </a:p>
          <a:p>
            <a:pPr algn="ctr">
              <a:spcAft>
                <a:spcPts val="800"/>
              </a:spcAft>
              <a:defRPr sz="1300" b="1">
                <a:solidFill>
                  <a:srgbClr val="FFFFFF"/>
                </a:solidFill>
              </a:defRPr>
            </a:pPr>
            <a:r>
              <a:t>National Development</a:t>
            </a:r>
          </a:p>
          <a:p>
            <a:pPr algn="ctr">
              <a:defRPr sz="1050">
                <a:solidFill>
                  <a:srgbClr val="F0F0F0"/>
                </a:solidFill>
              </a:defRPr>
            </a:pPr>
            <a:r>
              <a:t>Directly driving Smart Bangladesh 2041, Zero Hunger, No Poverty, and Rural Economic Growth.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3035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81C784"/>
                </a:solidFill>
              </a:defRPr>
            </a:pPr>
            <a:r>
              <a:t>🌾 AgroLinkBD is not just an application — it is the digital infrastructure for Bangladesh's Agricultural Revolution.</a:t>
            </a:r>
          </a:p>
          <a:p>
            <a:pPr algn="ctr">
              <a:defRPr sz="1300">
                <a:solidFill>
                  <a:srgbClr val="F0F0F0"/>
                </a:solidFill>
              </a:defRPr>
            </a:pPr>
            <a:r>
              <a:t>Thank You | Questions &amp; Live Interactive Demonstration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